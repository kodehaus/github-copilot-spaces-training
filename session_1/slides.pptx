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Context Engineering GitHub Copilot Spaces</a:t>
            </a:r>
          </a:p>
          <a:p>
            <a:pPr lvl="0" indent="0" marL="0">
              <a:buNone/>
            </a:pPr>
            <a:r>
              <a:rPr/>
              <a:t>Session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Identify and describe the core features and components of GitHub Copilot Spaces</a:t>
            </a:r>
          </a:p>
          <a:p>
            <a:pPr lvl="0"/>
            <a:r>
              <a:rPr/>
              <a:t>Explain how context management works and why it matters for AI-assisted development</a:t>
            </a:r>
          </a:p>
          <a:p>
            <a:pPr lvl="0"/>
            <a:r>
              <a:rPr/>
              <a:t>Diagnose context-related issues and identify improvement opportunities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18 minutes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Opening Question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Individual Reflection (2 min) + Pair Share (3 min)</a:t>
            </a:r>
          </a:p>
          <a:p>
            <a:pPr lvl="0" indent="0" marL="1270000">
              <a:buNone/>
            </a:pPr>
            <a:r>
              <a:rPr sz="2000"/>
              <a:t>Think about a time when you struggled to get effective help from an AI coding assistant.</a:t>
            </a:r>
          </a:p>
          <a:p>
            <a:pPr lvl="0" indent="0" marL="1270000">
              <a:buNone/>
            </a:pPr>
            <a:r>
              <a:rPr sz="2000"/>
              <a:t>What made it difficult?</a:t>
            </a:r>
          </a:p>
          <a:p>
            <a:pPr lvl="0" indent="0" marL="1270000">
              <a:buNone/>
            </a:pPr>
            <a:r>
              <a:rPr sz="2000"/>
              <a:t>What context was missing?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Learning and Practice</a:t>
            </a:r>
          </a:p>
          <a:p>
            <a:pPr lvl="0" indent="0" marL="0">
              <a:buNone/>
            </a:pPr>
            <a:r>
              <a:rPr/>
              <a:t>We’ll explore 3 key learning objectives:</a:t>
            </a:r>
          </a:p>
          <a:p>
            <a:pPr lvl="0" indent="-342900" marL="342900">
              <a:buAutoNum type="arabicPeriod"/>
            </a:pPr>
            <a:r>
              <a:rPr/>
              <a:t>Core features of GitHub Copilot Spaces</a:t>
            </a:r>
          </a:p>
          <a:p>
            <a:pPr lvl="0" indent="-342900" marL="342900">
              <a:buAutoNum type="arabicPeriod"/>
            </a:pPr>
            <a:r>
              <a:rPr/>
              <a:t>Context management fundamentals</a:t>
            </a:r>
            <a:br/>
          </a:p>
          <a:p>
            <a:pPr lvl="0" indent="-342900" marL="342900">
              <a:buAutoNum type="arabicPeriod"/>
            </a:pPr>
            <a:r>
              <a:rPr/>
              <a:t>Diagnosing context issues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4Cs Framework</a:t>
            </a:r>
          </a:p>
          <a:p>
            <a:pPr lvl="0"/>
            <a:r>
              <a:rPr/>
              <a:t>🔗 </a:t>
            </a:r>
            <a:r>
              <a:rPr b="1"/>
              <a:t>Connection</a:t>
            </a:r>
            <a:r>
              <a:rPr/>
              <a:t> (10%) - Activate prior knowledge</a:t>
            </a:r>
          </a:p>
          <a:p>
            <a:pPr lvl="0"/>
            <a:r>
              <a:rPr/>
              <a:t>📚 </a:t>
            </a:r>
            <a:r>
              <a:rPr b="1"/>
              <a:t>Concepts</a:t>
            </a:r>
            <a:r>
              <a:rPr/>
              <a:t> (30%) - Learn new information</a:t>
            </a:r>
          </a:p>
          <a:p>
            <a:pPr lvl="0"/>
            <a:r>
              <a:rPr/>
              <a:t>🛠️ </a:t>
            </a:r>
            <a:r>
              <a:rPr b="1"/>
              <a:t>Concrete Practice</a:t>
            </a:r>
            <a:r>
              <a:rPr/>
              <a:t> (50%) - Hands-on application</a:t>
            </a:r>
          </a:p>
          <a:p>
            <a:pPr lvl="0"/>
            <a:r>
              <a:rPr/>
              <a:t>💡 </a:t>
            </a:r>
            <a:r>
              <a:rPr b="1"/>
              <a:t>Conclusions</a:t>
            </a:r>
            <a:r>
              <a:rPr/>
              <a:t> (10%) - Reflect and consolidate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54 minutes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Features of GitHub Copilot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GitHub Issues Integration</a:t>
            </a:r>
          </a:p>
          <a:p>
            <a:pPr lvl="0"/>
            <a:r>
              <a:rPr/>
              <a:t>Work directly from GitHub issues</a:t>
            </a:r>
          </a:p>
          <a:p>
            <a:pPr lvl="0"/>
            <a:r>
              <a:rPr/>
              <a:t>AI understands issue context automatically</a:t>
            </a:r>
          </a:p>
          <a:p>
            <a:pPr lvl="0"/>
            <a:r>
              <a:rPr/>
              <a:t>Seamless transition from planning to coding</a:t>
            </a:r>
          </a:p>
          <a:p>
            <a:pPr lvl="0" indent="0" marL="0">
              <a:buNone/>
            </a:pPr>
            <a:r>
              <a:rPr b="1"/>
              <a:t>Pull Request Context</a:t>
            </a:r>
          </a:p>
          <a:p>
            <a:pPr lvl="0"/>
            <a:r>
              <a:rPr/>
              <a:t>Full awareness of PR scope and discussions</a:t>
            </a:r>
          </a:p>
          <a:p>
            <a:pPr lvl="0"/>
            <a:r>
              <a:rPr/>
              <a:t>Context-aware code suggestions for reviews</a:t>
            </a:r>
          </a:p>
          <a:p>
            <a:pPr lvl="0"/>
            <a:r>
              <a:rPr/>
              <a:t>Maintains conversation history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Features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Work Item Tracking</a:t>
            </a:r>
          </a:p>
          <a:p>
            <a:pPr lvl="0"/>
            <a:r>
              <a:rPr/>
              <a:t>Integrated project management</a:t>
            </a:r>
          </a:p>
          <a:p>
            <a:pPr lvl="0"/>
            <a:r>
              <a:rPr/>
              <a:t>AI aligns with sprint goals</a:t>
            </a:r>
          </a:p>
          <a:p>
            <a:pPr lvl="0"/>
            <a:r>
              <a:rPr/>
              <a:t>Priority-aware assistance</a:t>
            </a:r>
          </a:p>
          <a:p>
            <a:pPr lvl="0" indent="0" marL="0">
              <a:buNone/>
            </a:pPr>
            <a:r>
              <a:rPr b="1"/>
              <a:t>Feature Scaffolding</a:t>
            </a:r>
          </a:p>
          <a:p>
            <a:pPr lvl="0"/>
            <a:r>
              <a:rPr/>
              <a:t>Generate initial code structure</a:t>
            </a:r>
          </a:p>
          <a:p>
            <a:pPr lvl="0"/>
            <a:r>
              <a:rPr/>
              <a:t>Consistent patterns across team</a:t>
            </a:r>
          </a:p>
          <a:p>
            <a:pPr lvl="0"/>
            <a:r>
              <a:rPr/>
              <a:t>Best practices built-in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Management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Context Matters</a:t>
            </a:r>
          </a:p>
          <a:p>
            <a:pPr lvl="0" indent="0" marL="1270000">
              <a:buNone/>
            </a:pPr>
            <a:r>
              <a:rPr sz="2000"/>
              <a:t>“The quality of AI output is directly proportional to the quality of context provided.”</a:t>
            </a:r>
          </a:p>
          <a:p>
            <a:pPr lvl="0" indent="0" marL="0">
              <a:buNone/>
            </a:pPr>
            <a:r>
              <a:rPr b="1"/>
              <a:t>Good Context =</a:t>
            </a:r>
            <a:r>
              <a:rPr/>
              <a:t> - Relevant files and documentation - Clear instructions and constraints - Appropriate scope and boundaries</a:t>
            </a:r>
          </a:p>
          <a:p>
            <a:pPr lvl="0" indent="0" marL="0">
              <a:buNone/>
            </a:pPr>
            <a:r>
              <a:rPr b="1"/>
              <a:t>Poor Context =</a:t>
            </a:r>
            <a:r>
              <a:rPr/>
              <a:t> - Irrelevant or outdated information - Vague or conflicting guidance - Too broad or too narrow scope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Strategy Impact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Output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Developer Experience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Excellent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Highly relevant, accurate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Fast, confident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Mostly useful, some editing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Off-target, needs rework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Frustrating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Random, unusable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Wasted time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Diagnosing Context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Symptoms</a:t>
            </a:r>
          </a:p>
          <a:p>
            <a:pPr lvl="0"/>
            <a:r>
              <a:rPr/>
              <a:t>🔴 AI suggestions are off-target</a:t>
            </a:r>
          </a:p>
          <a:p>
            <a:pPr lvl="0"/>
            <a:r>
              <a:rPr/>
              <a:t>🔴 Repetitive or irrelevant responses</a:t>
            </a:r>
          </a:p>
          <a:p>
            <a:pPr lvl="0"/>
            <a:r>
              <a:rPr/>
              <a:t>🔴 Missing key project conventions</a:t>
            </a:r>
          </a:p>
          <a:p>
            <a:pPr lvl="0"/>
            <a:r>
              <a:rPr/>
              <a:t>🔴 Inconsistent code patterns</a:t>
            </a:r>
          </a:p>
          <a:p>
            <a:pPr lvl="0" indent="0" marL="0">
              <a:buNone/>
            </a:pPr>
            <a:r>
              <a:rPr b="1"/>
              <a:t>Root Causes</a:t>
            </a:r>
          </a:p>
          <a:p>
            <a:pPr lvl="0"/>
            <a:r>
              <a:rPr/>
              <a:t>Missing documentation</a:t>
            </a:r>
          </a:p>
          <a:p>
            <a:pPr lvl="0"/>
            <a:r>
              <a:rPr/>
              <a:t>Outdated context files</a:t>
            </a:r>
          </a:p>
          <a:p>
            <a:pPr lvl="0"/>
            <a:r>
              <a:rPr/>
              <a:t>Insufficient workspace configuration</a:t>
            </a:r>
          </a:p>
          <a:p>
            <a:pPr lvl="0"/>
            <a:r>
              <a:rPr/>
              <a:t>Unclear instructions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Audit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Check</a:t>
            </a:r>
          </a:p>
          <a:p>
            <a:pPr lvl="0" indent="-342900" marL="342900">
              <a:buAutoNum type="arabicPeriod"/>
            </a:pPr>
            <a:r>
              <a:rPr/>
              <a:t>✅ Are all relevant files included?</a:t>
            </a:r>
          </a:p>
          <a:p>
            <a:pPr lvl="0" indent="-342900" marL="342900">
              <a:buAutoNum type="arabicPeriod"/>
            </a:pPr>
            <a:r>
              <a:rPr/>
              <a:t>✅ Is documentation current and accessible?</a:t>
            </a:r>
          </a:p>
          <a:p>
            <a:pPr lvl="0" indent="-342900" marL="342900">
              <a:buAutoNum type="arabicPeriod"/>
            </a:pPr>
            <a:r>
              <a:rPr/>
              <a:t>✅ Are instructions clear and specific?</a:t>
            </a:r>
          </a:p>
          <a:p>
            <a:pPr lvl="0" indent="-342900" marL="342900">
              <a:buAutoNum type="arabicPeriod"/>
            </a:pPr>
            <a:r>
              <a:rPr/>
              <a:t>✅ Is scope appropriate for the task?</a:t>
            </a:r>
          </a:p>
          <a:p>
            <a:pPr lvl="0" indent="-342900" marL="342900">
              <a:buAutoNum type="arabicPeriod"/>
            </a:pPr>
            <a:r>
              <a:rPr/>
              <a:t>✅ Are examples provided where helpful?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Concrete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90 minutes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Practice Round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Objectives:</a:t>
            </a:r>
            <a:r>
              <a:rPr/>
              <a:t> - Apply Remember-level concepts (features identification) - Apply Understand-level concepts (context management) - Begin Analyze-level work (basic diagnostics)</a:t>
            </a:r>
          </a:p>
          <a:p>
            <a:pPr lvl="0" indent="0" marL="0">
              <a:buNone/>
            </a:pPr>
            <a:r>
              <a:rPr b="1"/>
              <a:t>Activities:</a:t>
            </a:r>
            <a:r>
              <a:rPr/>
              <a:t> - Knowledge checks and concept mapping - Hands-on workspace exploration - Peer collaboration and discussion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~30 minutes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Practice Round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Objectives:</a:t>
            </a:r>
            <a:r>
              <a:rPr/>
              <a:t> - Deepen understanding of context relationships - Practice diagnosing real issues - Apply troubleshooting frameworks</a:t>
            </a:r>
          </a:p>
          <a:p>
            <a:pPr lvl="0" indent="0" marL="0">
              <a:buNone/>
            </a:pPr>
            <a:r>
              <a:rPr b="1"/>
              <a:t>Activities:</a:t>
            </a:r>
            <a:r>
              <a:rPr/>
              <a:t> - Context management exercises - Troubleshooting challenges - Scenario-based problem solving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~30 minutes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Brain Break 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5 minutes</a:t>
            </a:r>
          </a:p>
          <a:p>
            <a:pPr lvl="0" indent="0" marL="0">
              <a:buNone/>
            </a:pPr>
            <a:r>
              <a:rPr b="1"/>
              <a:t>Stretch, move, refresh!</a:t>
            </a:r>
          </a:p>
          <a:p>
            <a:pPr lvl="0"/>
            <a:r>
              <a:rPr/>
              <a:t>Get up and walk around</a:t>
            </a:r>
          </a:p>
          <a:p>
            <a:pPr lvl="0"/>
            <a:r>
              <a:rPr/>
              <a:t>Grab water or coffee</a:t>
            </a:r>
          </a:p>
          <a:p>
            <a:pPr lvl="0"/>
            <a:r>
              <a:rPr/>
              <a:t>Network informally</a:t>
            </a:r>
          </a:p>
          <a:p>
            <a:pPr lvl="0"/>
            <a:r>
              <a:rPr/>
              <a:t>Clear your mind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Practice Round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Objectives:</a:t>
            </a:r>
            <a:r>
              <a:rPr/>
              <a:t> - Master diagnostic techniques - Compare different approaches - Build confidence in autonomous work</a:t>
            </a:r>
          </a:p>
          <a:p>
            <a:pPr lvl="0" indent="0" marL="0">
              <a:buNone/>
            </a:pPr>
            <a:r>
              <a:rPr b="1"/>
              <a:t>Activities:</a:t>
            </a:r>
            <a:r>
              <a:rPr/>
              <a:t> - Advanced diagnostic exercises - Comparative analysis - Independent problem solving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~25 minutes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18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Features</a:t>
            </a:r>
            <a:r>
              <a:rPr/>
              <a:t> - GitHub issues and PR integration - Work item tracking with AI - Feature scaffolding capabilities</a:t>
            </a:r>
          </a:p>
          <a:p>
            <a:pPr lvl="0" indent="0" marL="0">
              <a:buNone/>
            </a:pPr>
            <a:r>
              <a:rPr b="1"/>
              <a:t>Context Management</a:t>
            </a:r>
            <a:r>
              <a:rPr/>
              <a:t> - Quality context = Quality output - Clear, relevant, scoped information - Regular audits and updates</a:t>
            </a:r>
          </a:p>
          <a:p>
            <a:pPr lvl="0" indent="0" marL="0">
              <a:buNone/>
            </a:pPr>
            <a:r>
              <a:rPr b="1"/>
              <a:t>Diagnostic Skills</a:t>
            </a:r>
            <a:r>
              <a:rPr/>
              <a:t> - Identify context issues systematically - Prioritize improvements by impact - Apply best practices consistently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Reflection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Take 3 minutes to reflect:</a:t>
            </a:r>
          </a:p>
          <a:p>
            <a:pPr lvl="0" indent="-342900" marL="342900">
              <a:buAutoNum type="arabicPeriod"/>
            </a:pPr>
            <a:r>
              <a:rPr/>
              <a:t>What’s the most important thing you learned today?</a:t>
            </a:r>
          </a:p>
          <a:p>
            <a:pPr lvl="0" indent="-342900" marL="342900">
              <a:buAutoNum type="arabicPeriod"/>
            </a:pPr>
            <a:r>
              <a:rPr/>
              <a:t>What surprised you the most?</a:t>
            </a:r>
          </a:p>
          <a:p>
            <a:pPr lvl="0" indent="-342900" marL="342900">
              <a:buAutoNum type="arabicPeriod"/>
            </a:pPr>
            <a:r>
              <a:rPr/>
              <a:t>What questions do you still have?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 to Your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 will apply what I learned by…</a:t>
            </a:r>
          </a:p>
          <a:p>
            <a:pPr lvl="0" indent="0" marL="0">
              <a:buNone/>
            </a:pPr>
            <a:r>
              <a:rPr i="1"/>
              <a:t>Write one specific action you’ll take this week:</a:t>
            </a:r>
          </a:p>
          <a:p>
            <a:pPr lvl="0" indent="0" marL="0">
              <a:buNone/>
            </a:pPr>
            <a:r>
              <a:rPr/>
              <a:t>Example: - “Audit my current workspace configuration” - “Add project documentation to my Copilot Space” - “Create a context checklist for my team”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Supplemental Learning Available:</a:t>
            </a:r>
          </a:p>
          <a:p>
            <a:pPr lvl="0"/>
            <a:r>
              <a:rPr b="1"/>
              <a:t>Extended Workshop</a:t>
            </a:r>
            <a:r>
              <a:rPr/>
              <a:t> - Advanced workspace configuration</a:t>
            </a:r>
          </a:p>
          <a:p>
            <a:pPr lvl="0"/>
            <a:r>
              <a:rPr b="1"/>
              <a:t>Self-Paced Modules</a:t>
            </a:r>
            <a:r>
              <a:rPr/>
              <a:t> - Deep dives into specific topics</a:t>
            </a:r>
          </a:p>
          <a:p>
            <a:pPr lvl="0"/>
            <a:r>
              <a:rPr b="1"/>
              <a:t>Office Hours</a:t>
            </a:r>
            <a:r>
              <a:rPr/>
              <a:t> - Get help with your projects</a:t>
            </a:r>
          </a:p>
          <a:p>
            <a:pPr lvl="0"/>
            <a:r>
              <a:rPr b="1"/>
              <a:t>Community Practice</a:t>
            </a:r>
            <a:r>
              <a:rPr/>
              <a:t> - Learn with peers</a:t>
            </a:r>
          </a:p>
          <a:p>
            <a:pPr lvl="0" indent="0" marL="0">
              <a:buNone/>
            </a:pPr>
            <a:r>
              <a:rPr b="1"/>
              <a:t>Total additional content:</a:t>
            </a:r>
            <a:r>
              <a:rPr/>
              <a:t> 465 minutes (7.75 hours)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</a:t>
            </a:r>
            <a:r>
              <a:rPr b="1"/>
              <a:t>Official Documentation</a:t>
            </a:r>
            <a:r>
              <a:rPr/>
              <a:t> - GitHub Copilot Docs - Copilot Spaces Guide</a:t>
            </a:r>
          </a:p>
          <a:p>
            <a:pPr lvl="0" indent="0" marL="0">
              <a:buNone/>
            </a:pPr>
            <a:r>
              <a:rPr/>
              <a:t>🛠️ </a:t>
            </a:r>
            <a:r>
              <a:rPr b="1"/>
              <a:t>Practice Materials</a:t>
            </a:r>
            <a:r>
              <a:rPr/>
              <a:t> - Sample projects - Exercise templates - Configuration examples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Support</a:t>
            </a:r>
            <a:r>
              <a:rPr/>
              <a:t> - Community forums - Office hours - Facilitator contact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2026-01-12T21:27:05Z</dcterms:created>
  <dcterms:modified xsi:type="dcterms:W3CDTF">2026-01-12T21:27:05Z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