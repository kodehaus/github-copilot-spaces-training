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 3: Practice Round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Advanced Diagnostics</a:t>
            </a:r>
          </a:p>
          <a:p>
            <a:pPr lvl="0" indent="0" marL="0">
              <a:buNone/>
            </a:pPr>
            <a:r>
              <a:rPr b="1"/>
              <a:t>Duration:</a:t>
            </a:r>
            <a:r>
              <a:rPr/>
              <a:t> 30 minutes </a:t>
            </a:r>
            <a:r>
              <a:rPr b="1"/>
              <a:t>Scaffolding:</a:t>
            </a:r>
            <a:r>
              <a:rPr/>
              <a:t> Low (Minimal guidance - work independently)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completing this exercise, you will:</a:t>
            </a:r>
          </a:p>
          <a:p>
            <a:pPr lvl="0"/>
            <a:r>
              <a:rPr/>
              <a:t>🎓 Master diagnostic approaches for context issues</a:t>
            </a:r>
          </a:p>
          <a:p>
            <a:pPr lvl="0"/>
            <a:r>
              <a:rPr/>
              <a:t>🎓 Compare different context engineering strategies</a:t>
            </a:r>
          </a:p>
          <a:p>
            <a:pPr lvl="0"/>
            <a:r>
              <a:rPr/>
              <a:t>🎓 Work autonomously to solve context problems</a:t>
            </a:r>
          </a:p>
          <a:p>
            <a:pPr lvl="0"/>
            <a:r>
              <a:rPr/>
              <a:t>🎓 Diagnose and identify improvement opportunities</a:t>
            </a:r>
          </a:p>
          <a:p>
            <a:pPr lvl="0"/>
            <a:r>
              <a:rPr/>
              <a:t>🎓 Audit workspaces and prioritize improvements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You’re the context expert now!</a:t>
            </a:r>
          </a:p>
          <a:p>
            <a:pPr lvl="0" indent="0" marL="0">
              <a:buNone/>
            </a:pPr>
            <a:r>
              <a:rPr/>
              <a:t>You have access to 3 team workspaces. Each has context issues causing poor AI assistance.</a:t>
            </a:r>
          </a:p>
          <a:p>
            <a:pPr lvl="0" indent="0" marL="0">
              <a:buNone/>
            </a:pPr>
            <a:r>
              <a:rPr b="1"/>
              <a:t>Your mission:</a:t>
            </a:r>
            <a:r>
              <a:rPr/>
              <a:t> Audit all three, diagnose problems, and recommend improvements.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Diagnostic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5-Point Context Audit Framework</a:t>
            </a:r>
          </a:p>
          <a:p>
            <a:pPr lvl="0" indent="0" marL="0">
              <a:buNone/>
            </a:pPr>
            <a:r>
              <a:rPr/>
              <a:t>Use this for EACH workspace:</a:t>
            </a:r>
          </a:p>
          <a:p>
            <a:pPr lvl="0" indent="-342900" marL="342900">
              <a:buAutoNum type="arabicPeriod"/>
            </a:pPr>
            <a:r>
              <a:rPr/>
              <a:t>✅ </a:t>
            </a:r>
            <a:r>
              <a:rPr b="1"/>
              <a:t>Workspace Files Complete?</a:t>
            </a:r>
          </a:p>
          <a:p>
            <a:pPr lvl="0" indent="-342900" marL="342900">
              <a:buAutoNum type="arabicPeriod"/>
            </a:pPr>
            <a:r>
              <a:rPr/>
              <a:t>✅ </a:t>
            </a:r>
            <a:r>
              <a:rPr b="1"/>
              <a:t>Documentation Accessible?</a:t>
            </a:r>
          </a:p>
          <a:p>
            <a:pPr lvl="0" indent="-342900" marL="342900">
              <a:buAutoNum type="arabicPeriod"/>
            </a:pPr>
            <a:r>
              <a:rPr/>
              <a:t>✅ </a:t>
            </a:r>
            <a:r>
              <a:rPr b="1"/>
              <a:t>Errors/Logs Visible?</a:t>
            </a:r>
          </a:p>
          <a:p>
            <a:pPr lvl="0" indent="-342900" marL="342900">
              <a:buAutoNum type="arabicPeriod"/>
            </a:pPr>
            <a:r>
              <a:rPr/>
              <a:t>✅ </a:t>
            </a:r>
            <a:r>
              <a:rPr b="1"/>
              <a:t>Scope Appropriate?</a:t>
            </a:r>
          </a:p>
          <a:p>
            <a:pPr lvl="0" indent="-342900" marL="342900">
              <a:buAutoNum type="arabicPeriod"/>
            </a:pPr>
            <a:r>
              <a:rPr/>
              <a:t>✅ </a:t>
            </a:r>
            <a:r>
              <a:rPr b="1"/>
              <a:t>Information Current?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Workspace A: The Overloaded Workspace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Time: ~10 minutes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Workspace A - Symptoms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you observe:</a:t>
            </a:r>
          </a:p>
          <a:p>
            <a:pPr lvl="0"/>
            <a:r>
              <a:rPr/>
              <a:t>🐌 AI responses are slow</a:t>
            </a:r>
          </a:p>
          <a:p>
            <a:pPr lvl="0"/>
            <a:r>
              <a:rPr/>
              <a:t>😕 Suggestions are generic and unfocused</a:t>
            </a:r>
          </a:p>
          <a:p>
            <a:pPr lvl="0"/>
            <a:r>
              <a:rPr/>
              <a:t>📁 Context includes 50+ files</a:t>
            </a:r>
          </a:p>
          <a:p>
            <a:pPr lvl="0" indent="0" marL="0">
              <a:buNone/>
            </a:pPr>
            <a:r>
              <a:rPr b="1"/>
              <a:t>The problem is obvious… but what’s the ROOT CAUSE?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Workspace A - Your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Autonomous work - minimal guidance:</a:t>
            </a:r>
          </a:p>
          <a:p>
            <a:pPr lvl="0" indent="-342900" marL="342900">
              <a:buAutoNum type="arabicPeriod"/>
            </a:pPr>
            <a:r>
              <a:rPr/>
              <a:t>Audit using the 5-point framework</a:t>
            </a:r>
          </a:p>
          <a:p>
            <a:pPr lvl="0" indent="-342900" marL="342900">
              <a:buAutoNum type="arabicPeriod"/>
            </a:pPr>
            <a:r>
              <a:rPr/>
              <a:t>Identify at least 3 specific issues</a:t>
            </a:r>
          </a:p>
          <a:p>
            <a:pPr lvl="0" indent="-342900" marL="342900">
              <a:buAutoNum type="arabicPeriod"/>
            </a:pPr>
            <a:r>
              <a:rPr/>
              <a:t>Explain the impact of each issue on AI effectiveness</a:t>
            </a:r>
          </a:p>
          <a:p>
            <a:pPr lvl="0" indent="-342900" marL="342900">
              <a:buAutoNum type="arabicPeriod"/>
            </a:pPr>
            <a:r>
              <a:rPr/>
              <a:t>Prioritize improvements based on expected impact</a:t>
            </a:r>
          </a:p>
          <a:p>
            <a:pPr lvl="0" indent="-342900" marL="342900">
              <a:buAutoNum type="arabicPeriod"/>
            </a:pPr>
            <a:r>
              <a:rPr/>
              <a:t>Recommend specific actions aligned with best practices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Workspace B: The Minimal Workspace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Time: ~10 minutes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Workspace B - Symptoms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you observe:</a:t>
            </a:r>
          </a:p>
          <a:p>
            <a:pPr lvl="0"/>
            <a:r>
              <a:rPr/>
              <a:t>❓ AI asks many clarifying questions</a:t>
            </a:r>
          </a:p>
          <a:p>
            <a:pPr lvl="0"/>
            <a:r>
              <a:rPr/>
              <a:t>🎯 Suggestions don’t match project conventions</a:t>
            </a:r>
          </a:p>
          <a:p>
            <a:pPr lvl="0"/>
            <a:r>
              <a:rPr/>
              <a:t>📄 Workspace includes only 2 files</a:t>
            </a:r>
          </a:p>
          <a:p>
            <a:pPr lvl="0" indent="0" marL="0">
              <a:buNone/>
            </a:pPr>
            <a:r>
              <a:rPr b="1"/>
              <a:t>Too little context can be as bad as too much…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Workspace B - Your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Autonomous work - minimal guidance:</a:t>
            </a:r>
          </a:p>
          <a:p>
            <a:pPr lvl="0" indent="-342900" marL="342900">
              <a:buAutoNum type="arabicPeriod"/>
            </a:pPr>
            <a:r>
              <a:rPr/>
              <a:t>Audit using the 5-point framework</a:t>
            </a:r>
          </a:p>
          <a:p>
            <a:pPr lvl="0" indent="-342900" marL="342900">
              <a:buAutoNum type="arabicPeriod"/>
            </a:pPr>
            <a:r>
              <a:rPr/>
              <a:t>Identify at least 3 specific issues</a:t>
            </a:r>
          </a:p>
          <a:p>
            <a:pPr lvl="0" indent="-342900" marL="342900">
              <a:buAutoNum type="arabicPeriod"/>
            </a:pPr>
            <a:r>
              <a:rPr/>
              <a:t>Explain the impact of each issue on AI effectiveness</a:t>
            </a:r>
          </a:p>
          <a:p>
            <a:pPr lvl="0" indent="-342900" marL="342900">
              <a:buAutoNum type="arabicPeriod"/>
            </a:pPr>
            <a:r>
              <a:rPr/>
              <a:t>Prioritize improvements based on expected impact</a:t>
            </a:r>
          </a:p>
          <a:p>
            <a:pPr lvl="0" indent="-342900" marL="342900">
              <a:buAutoNum type="arabicPeriod"/>
            </a:pPr>
            <a:r>
              <a:rPr/>
              <a:t>Recommend specific actions aligned with best practices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Workspace C: The Outdated Workspace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Time: ~10 minutes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Workspace C - Symptoms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you observe:</a:t>
            </a:r>
          </a:p>
          <a:p>
            <a:pPr lvl="0"/>
            <a:r>
              <a:rPr/>
              <a:t>⚠️ AI suggests deprecated APIs</a:t>
            </a:r>
          </a:p>
          <a:p>
            <a:pPr lvl="0"/>
            <a:r>
              <a:rPr/>
              <a:t>📅 Solutions use old patterns</a:t>
            </a:r>
          </a:p>
          <a:p>
            <a:pPr lvl="0"/>
            <a:r>
              <a:rPr/>
              <a:t>📖 Documentation references version 1.0 (current is 3.5)</a:t>
            </a:r>
          </a:p>
          <a:p>
            <a:pPr lvl="0" indent="0" marL="0">
              <a:buNone/>
            </a:pPr>
            <a:r>
              <a:rPr b="1"/>
              <a:t>The past is haunting this workspace…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Workspace C - Your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Autonomous work - minimal guidance:</a:t>
            </a:r>
          </a:p>
          <a:p>
            <a:pPr lvl="0" indent="-342900" marL="342900">
              <a:buAutoNum type="arabicPeriod"/>
            </a:pPr>
            <a:r>
              <a:rPr/>
              <a:t>Audit using the 5-point framework</a:t>
            </a:r>
          </a:p>
          <a:p>
            <a:pPr lvl="0" indent="-342900" marL="342900">
              <a:buAutoNum type="arabicPeriod"/>
            </a:pPr>
            <a:r>
              <a:rPr/>
              <a:t>Identify at least 3 specific issues</a:t>
            </a:r>
          </a:p>
          <a:p>
            <a:pPr lvl="0" indent="-342900" marL="342900">
              <a:buAutoNum type="arabicPeriod"/>
            </a:pPr>
            <a:r>
              <a:rPr/>
              <a:t>Explain the impact of each issue on AI effectiveness</a:t>
            </a:r>
          </a:p>
          <a:p>
            <a:pPr lvl="0" indent="-342900" marL="342900">
              <a:buAutoNum type="arabicPeriod"/>
            </a:pPr>
            <a:r>
              <a:rPr/>
              <a:t>Prioritize improvements based on expected impact</a:t>
            </a:r>
          </a:p>
          <a:p>
            <a:pPr lvl="0" indent="-342900" marL="342900">
              <a:buAutoNum type="arabicPeriod"/>
            </a:pPr>
            <a:r>
              <a:rPr/>
              <a:t>Recommend specific actions aligned with best practices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5-Point Framework Reminder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Apply these questions to EACH workspace:</a:t>
            </a:r>
          </a:p>
          <a:p>
            <a:pPr lvl="0" indent="-342900" marL="342900">
              <a:buAutoNum type="arabicPeriod"/>
            </a:pPr>
            <a:r>
              <a:rPr b="1"/>
              <a:t>Files Complete?</a:t>
            </a:r>
            <a:r>
              <a:rPr/>
              <a:t> Are all necessary files included? Anything missing?</a:t>
            </a:r>
          </a:p>
          <a:p>
            <a:pPr lvl="0" indent="-342900" marL="342900">
              <a:buAutoNum type="arabicPeriod"/>
            </a:pPr>
            <a:r>
              <a:rPr b="1"/>
              <a:t>Documentation Accessible?</a:t>
            </a:r>
            <a:r>
              <a:rPr/>
              <a:t> Can AI find and understand docs? Are they clear?</a:t>
            </a:r>
          </a:p>
          <a:p>
            <a:pPr lvl="0" indent="-342900" marL="342900">
              <a:buAutoNum type="arabicPeriod"/>
            </a:pPr>
            <a:r>
              <a:rPr b="1"/>
              <a:t>Errors/Logs Visible?</a:t>
            </a:r>
            <a:r>
              <a:rPr/>
              <a:t> Are debugging resources available?</a:t>
            </a:r>
          </a:p>
          <a:p>
            <a:pPr lvl="0" indent="-342900" marL="342900">
              <a:buAutoNum type="arabicPeriod"/>
            </a:pPr>
            <a:r>
              <a:rPr b="1"/>
              <a:t>Scope Appropriate?</a:t>
            </a:r>
            <a:r>
              <a:rPr/>
              <a:t> Too much or too little context? Focused?</a:t>
            </a:r>
          </a:p>
          <a:p>
            <a:pPr lvl="0" indent="-342900" marL="342900">
              <a:buAutoNum type="arabicPeriod"/>
            </a:pPr>
            <a:r>
              <a:rPr b="1"/>
              <a:t>Information Current?</a:t>
            </a:r>
            <a:r>
              <a:rPr/>
              <a:t> Is everything up-to-date? Any outdated examples?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You’re successful if:</a:t>
            </a:r>
          </a:p>
          <a:p>
            <a:pPr lvl="0"/>
            <a:r>
              <a:rPr/>
              <a:t>☐ Audited all 3 workspaces using 5-point framework</a:t>
            </a:r>
          </a:p>
          <a:p>
            <a:pPr lvl="0"/>
            <a:r>
              <a:rPr/>
              <a:t>☐ Identified 3+ improvements per workspace (9+ total)</a:t>
            </a:r>
          </a:p>
          <a:p>
            <a:pPr lvl="0"/>
            <a:r>
              <a:rPr/>
              <a:t>☐ Explained impact of issues on AI effectiveness</a:t>
            </a:r>
          </a:p>
          <a:p>
            <a:pPr lvl="0"/>
            <a:r>
              <a:rPr/>
              <a:t>☐ Prioritized improvements (high/medium/low impact)</a:t>
            </a:r>
          </a:p>
          <a:p>
            <a:pPr lvl="0"/>
            <a:r>
              <a:rPr/>
              <a:t>☐ Recommendations align with best practices</a:t>
            </a:r>
          </a:p>
          <a:p>
            <a:pPr lvl="0"/>
            <a:r>
              <a:rPr/>
              <a:t>☐ Compared approaches across the three scenarios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Working Autonomously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is your chance to demonstrate mastery:</a:t>
            </a:r>
          </a:p>
          <a:p>
            <a:pPr lvl="0" indent="0" marL="0">
              <a:buNone/>
            </a:pPr>
            <a:r>
              <a:rPr/>
              <a:t>✅ Minimal hints provided (see next slide if desperate) ✅ Use reference materials as needed (self-directed) ✅ Apply everything you’ve learned today ✅ Trust your judgment</a:t>
            </a:r>
          </a:p>
          <a:p>
            <a:pPr lvl="0" indent="0" marL="0">
              <a:buNone/>
            </a:pPr>
            <a:r>
              <a:rPr b="1"/>
              <a:t>You’ve got this!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Minimal Guidance Available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Only if you’re COMPLETELY stuck:</a:t>
            </a:r>
          </a:p>
          <a:p>
            <a:pPr lvl="0" indent="0" marL="0">
              <a:buNone/>
            </a:pPr>
            <a:r>
              <a:rPr/>
              <a:t>💡 </a:t>
            </a:r>
            <a:r>
              <a:rPr b="1"/>
              <a:t>Last resort:</a:t>
            </a:r>
            <a:r>
              <a:rPr/>
              <a:t> Review the “Diagnosing Context Issues” concept from earlier in the session</a:t>
            </a:r>
          </a:p>
          <a:p>
            <a:pPr lvl="0" indent="0" marL="0">
              <a:buNone/>
            </a:pPr>
            <a:r>
              <a:rPr/>
              <a:t>💡 </a:t>
            </a:r>
            <a:r>
              <a:rPr b="1"/>
              <a:t>Verification check:</a:t>
            </a:r>
            <a:r>
              <a:rPr/>
              <a:t> Ask yourself: “Would this recommendation improve AI assistance quality?”</a:t>
            </a:r>
          </a:p>
          <a:p>
            <a:pPr lvl="0" indent="0" marL="0">
              <a:buNone/>
            </a:pPr>
            <a:r>
              <a:rPr b="1"/>
              <a:t>Otherwise - work independently!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to Submit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 EACH workspace (A, B, C):</a:t>
            </a:r>
          </a:p>
          <a:p>
            <a:pPr lvl="0" indent="-342900" marL="342900">
              <a:buAutoNum type="arabicPeriod"/>
            </a:pPr>
            <a:r>
              <a:rPr b="1"/>
              <a:t>Audit Results</a:t>
            </a:r>
          </a:p>
          <a:p>
            <a:pPr lvl="1"/>
            <a:r>
              <a:rPr/>
              <a:t>5-point framework checklist with findings</a:t>
            </a:r>
          </a:p>
          <a:p>
            <a:pPr lvl="1"/>
            <a:r>
              <a:rPr/>
              <a:t>3+ specific issues identified</a:t>
            </a:r>
          </a:p>
          <a:p>
            <a:pPr lvl="0" indent="-342900" marL="342900">
              <a:buAutoNum type="arabicPeriod"/>
            </a:pPr>
            <a:r>
              <a:rPr b="1"/>
              <a:t>Impact Analysis</a:t>
            </a:r>
          </a:p>
          <a:p>
            <a:pPr lvl="1"/>
            <a:r>
              <a:rPr/>
              <a:t>Explanation of how each issue affects AI effectiveness</a:t>
            </a:r>
          </a:p>
          <a:p>
            <a:pPr lvl="1"/>
            <a:r>
              <a:rPr/>
              <a:t>Evidence or reasoning for your analysis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to Submit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startAt="3" type="arabicPeriod"/>
            </a:pPr>
            <a:r>
              <a:rPr b="1"/>
              <a:t>Prioritized Recommendations</a:t>
            </a:r>
          </a:p>
          <a:p>
            <a:pPr lvl="1"/>
            <a:r>
              <a:rPr/>
              <a:t>List improvements in priority order (high/medium/low)</a:t>
            </a:r>
          </a:p>
          <a:p>
            <a:pPr lvl="1"/>
            <a:r>
              <a:rPr/>
              <a:t>Brief justification for each priority level</a:t>
            </a:r>
          </a:p>
          <a:p>
            <a:pPr lvl="1"/>
            <a:r>
              <a:rPr/>
              <a:t>Specific actions to take</a:t>
            </a:r>
          </a:p>
          <a:p>
            <a:pPr lvl="0" indent="-342900" marL="342900">
              <a:buAutoNum startAt="3" type="arabicPeriod"/>
            </a:pPr>
            <a:r>
              <a:rPr b="1"/>
              <a:t>Comparative Analysis</a:t>
            </a:r>
          </a:p>
          <a:p>
            <a:pPr lvl="1"/>
            <a:r>
              <a:rPr/>
              <a:t>What patterns did you notice across the 3 workspaces?</a:t>
            </a:r>
          </a:p>
          <a:p>
            <a:pPr lvl="1"/>
            <a:r>
              <a:rPr/>
              <a:t>Which workspace was most challenging to diagnose? Why?</a:t>
            </a:r>
          </a:p>
          <a:p>
            <a:pPr lvl="1"/>
            <a:r>
              <a:rPr/>
              <a:t>What general principles can you extract?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Reflection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Required reflections:</a:t>
            </a:r>
          </a:p>
          <a:p>
            <a:pPr lvl="0" indent="-342900" marL="342900">
              <a:buAutoNum type="arabicPeriod"/>
            </a:pPr>
            <a:r>
              <a:rPr/>
              <a:t>What was most challenging about this assessment?</a:t>
            </a:r>
          </a:p>
          <a:p>
            <a:pPr lvl="0" indent="-342900" marL="342900">
              <a:buAutoNum type="arabicPeriod"/>
            </a:pPr>
            <a:r>
              <a:rPr/>
              <a:t>How did your approach evolve from your first attempt?</a:t>
            </a:r>
          </a:p>
          <a:p>
            <a:pPr lvl="0" indent="-342900" marL="342900">
              <a:buAutoNum type="arabicPeriod"/>
            </a:pPr>
            <a:r>
              <a:rPr/>
              <a:t>What would you do differently next time?</a:t>
            </a:r>
          </a:p>
          <a:p>
            <a:pPr lvl="0" indent="-342900" marL="342900">
              <a:buAutoNum type="arabicPeriod"/>
            </a:pPr>
            <a:r>
              <a:rPr/>
              <a:t>How did this at-bat feel different from the previous one?</a:t>
            </a:r>
          </a:p>
          <a:p>
            <a:pPr lvl="0" indent="-342900" marL="342900">
              <a:buAutoNum type="arabicPeriod"/>
            </a:pPr>
            <a:r>
              <a:rPr/>
              <a:t>What skills are becoming more automatic for you?</a:t>
            </a:r>
          </a:p>
          <a:p>
            <a:pPr lvl="0" indent="-342900" marL="342900">
              <a:buAutoNum type="arabicPeriod"/>
            </a:pPr>
            <a:r>
              <a:rPr/>
              <a:t>How will you apply this skill in your real work?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Reflection Questions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Additional reflections:</a:t>
            </a:r>
          </a:p>
          <a:p>
            <a:pPr lvl="0" indent="-342900" marL="342900">
              <a:buAutoNum startAt="7" type="arabicPeriod"/>
            </a:pPr>
            <a:r>
              <a:rPr/>
              <a:t>Which of the three workspaces (A, B, or C) was most similar to a real situation you’ve encountered?</a:t>
            </a:r>
          </a:p>
          <a:p>
            <a:pPr lvl="0" indent="-342900" marL="342900">
              <a:buAutoNum startAt="7" type="arabicPeriod"/>
            </a:pPr>
            <a:r>
              <a:rPr/>
              <a:t>What diagnostic strategies worked best for you?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Get Started!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Remember:</a:t>
            </a:r>
            <a:r>
              <a:rPr/>
              <a:t> - You have 30 minutes total (~10 min per workspace) - Low scaffolding - work autonomously - Apply the 5-point framework systematically - Trust what you’ve learned today</a:t>
            </a:r>
          </a:p>
          <a:p>
            <a:pPr lvl="0" indent="0" marL="0">
              <a:buNone/>
            </a:pPr>
            <a:r>
              <a:rPr b="1"/>
              <a:t>This is where you show your mastery!</a:t>
            </a:r>
          </a:p>
          <a:p>
            <a:pPr lvl="0" indent="0" marL="0">
              <a:buNone/>
            </a:pPr>
            <a:r>
              <a:rPr b="1"/>
              <a:t>Ready? Begin with Workspace A!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2026-01-12T21:44:10Z</dcterms:created>
  <dcterms:modified xsi:type="dcterms:W3CDTF">2026-01-12T21:44:10Z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theme">
    <vt:lpwstr>default</vt:lpwstr>
  </property>
</Properties>
</file>